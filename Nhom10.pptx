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" charset="1" panose="02020603050405020304"/>
      <p:regular r:id="rId17"/>
    </p:embeddedFont>
    <p:embeddedFont>
      <p:font typeface="Times New Roman Bold" charset="1" panose="020208030705050203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-437" b="0"/>
            </a:stretch>
          </a:blipFill>
        </p:spPr>
      </p:sp>
      <p:sp>
        <p:nvSpPr>
          <p:cNvPr name="AutoShape 3" id="3"/>
          <p:cNvSpPr/>
          <p:nvPr/>
        </p:nvSpPr>
        <p:spPr>
          <a:xfrm rot="6900">
            <a:off x="1087745" y="6213158"/>
            <a:ext cx="9528829" cy="0"/>
          </a:xfrm>
          <a:prstGeom prst="line">
            <a:avLst/>
          </a:prstGeom>
          <a:ln cap="rnd" w="9525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267272" y="6309036"/>
            <a:ext cx="9875520" cy="914400"/>
            <a:chOff x="0" y="0"/>
            <a:chExt cx="1316736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673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316736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Đồ án NoSQL | Ứng dụng mô hình Redis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988511" y="218753"/>
            <a:ext cx="7920294" cy="9519607"/>
          </a:xfrm>
          <a:custGeom>
            <a:avLst/>
            <a:gdLst/>
            <a:ahLst/>
            <a:cxnLst/>
            <a:rect r="r" b="b" t="t" l="l"/>
            <a:pathLst>
              <a:path h="9519607" w="7920294">
                <a:moveTo>
                  <a:pt x="0" y="0"/>
                </a:moveTo>
                <a:lnTo>
                  <a:pt x="7920294" y="0"/>
                </a:lnTo>
                <a:lnTo>
                  <a:pt x="7920294" y="9519607"/>
                </a:lnTo>
                <a:lnTo>
                  <a:pt x="0" y="951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63" r="-3762" b="-226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8720" y="2202180"/>
            <a:ext cx="9326880" cy="348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2B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 THỐNG BẢNG XẾP HẠNG THỜI GIAN THỰC </a:t>
            </a:r>
            <a:r>
              <a:rPr lang="en-US" sz="5600" b="true">
                <a:solidFill>
                  <a:srgbClr val="B71C1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(REAL-TIME LEADERBOARD)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99280" y="9700260"/>
            <a:ext cx="1417120" cy="54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-4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548640"/>
            <a:ext cx="16093440" cy="1280160"/>
            <a:chOff x="0" y="0"/>
            <a:chExt cx="21457920" cy="1706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45792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b="true" sz="5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Tổng quan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7280" y="2377440"/>
            <a:ext cx="8046720" cy="914400"/>
            <a:chOff x="0" y="0"/>
            <a:chExt cx="1072896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28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72896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1.1. Giới thiệu hệ thống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62823" y="2547623"/>
            <a:ext cx="3134363" cy="1488440"/>
            <a:chOff x="0" y="0"/>
            <a:chExt cx="4179151" cy="19845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9189" cy="1984625"/>
            </a:xfrm>
            <a:custGeom>
              <a:avLst/>
              <a:gdLst/>
              <a:ahLst/>
              <a:cxnLst/>
              <a:rect r="r" b="b" t="t" l="l"/>
              <a:pathLst>
                <a:path h="1984625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984625"/>
                  </a:lnTo>
                  <a:lnTo>
                    <a:pt x="0" y="1984625"/>
                  </a:lnTo>
                  <a:close/>
                </a:path>
              </a:pathLst>
            </a:custGeom>
            <a:solidFill>
              <a:srgbClr val="6B7F9E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179151" cy="1994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FastAPI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(Ứng dụng)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20423" y="2547623"/>
            <a:ext cx="3134363" cy="1488440"/>
            <a:chOff x="0" y="0"/>
            <a:chExt cx="4179151" cy="19845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9189" cy="1984625"/>
            </a:xfrm>
            <a:custGeom>
              <a:avLst/>
              <a:gdLst/>
              <a:ahLst/>
              <a:cxnLst/>
              <a:rect r="r" b="b" t="t" l="l"/>
              <a:pathLst>
                <a:path h="1984625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984625"/>
                  </a:lnTo>
                  <a:lnTo>
                    <a:pt x="0" y="1984625"/>
                  </a:lnTo>
                  <a:close/>
                </a:path>
              </a:pathLst>
            </a:custGeom>
            <a:solidFill>
              <a:srgbClr val="6B7F9E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179151" cy="1994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SSE &amp; Pub/Sub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(Cập nhật tức thì)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5177100">
            <a:off x="11136011" y="4288155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177100">
            <a:off x="14793611" y="4288155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35460">
            <a:off x="11410855" y="4562475"/>
            <a:ext cx="3695900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177100">
            <a:off x="12964811" y="4836795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691623" y="5107943"/>
            <a:ext cx="3134363" cy="1488440"/>
            <a:chOff x="0" y="0"/>
            <a:chExt cx="4179151" cy="19845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79189" cy="1984625"/>
            </a:xfrm>
            <a:custGeom>
              <a:avLst/>
              <a:gdLst/>
              <a:ahLst/>
              <a:cxnLst/>
              <a:rect r="r" b="b" t="t" l="l"/>
              <a:pathLst>
                <a:path h="1984625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984625"/>
                  </a:lnTo>
                  <a:lnTo>
                    <a:pt x="0" y="1984625"/>
                  </a:lnTo>
                  <a:close/>
                </a:path>
              </a:pathLst>
            </a:custGeom>
            <a:solidFill>
              <a:srgbClr val="B71C1C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179151" cy="1994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Redis 7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(Lưu trữ)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5177100">
            <a:off x="12964811" y="6848475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28440">
            <a:off x="10862234" y="7122795"/>
            <a:ext cx="4610262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5177100">
            <a:off x="10587371" y="7397115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5177100">
            <a:off x="15159371" y="7397115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9314183" y="7668263"/>
            <a:ext cx="3134363" cy="1488440"/>
            <a:chOff x="0" y="0"/>
            <a:chExt cx="4179151" cy="19845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79189" cy="1984625"/>
            </a:xfrm>
            <a:custGeom>
              <a:avLst/>
              <a:gdLst/>
              <a:ahLst/>
              <a:cxnLst/>
              <a:rect r="r" b="b" t="t" l="l"/>
              <a:pathLst>
                <a:path h="1984625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984625"/>
                  </a:lnTo>
                  <a:lnTo>
                    <a:pt x="0" y="1984625"/>
                  </a:lnTo>
                  <a:close/>
                </a:path>
              </a:pathLst>
            </a:custGeom>
            <a:solidFill>
              <a:srgbClr val="B71C1C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179151" cy="1994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Hash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(Người chơi)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886183" y="7668263"/>
            <a:ext cx="3134363" cy="1488440"/>
            <a:chOff x="0" y="0"/>
            <a:chExt cx="4179151" cy="19845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79189" cy="1984625"/>
            </a:xfrm>
            <a:custGeom>
              <a:avLst/>
              <a:gdLst/>
              <a:ahLst/>
              <a:cxnLst/>
              <a:rect r="r" b="b" t="t" l="l"/>
              <a:pathLst>
                <a:path h="1984625" w="4179189">
                  <a:moveTo>
                    <a:pt x="0" y="0"/>
                  </a:moveTo>
                  <a:lnTo>
                    <a:pt x="4179189" y="0"/>
                  </a:lnTo>
                  <a:lnTo>
                    <a:pt x="4179189" y="1984625"/>
                  </a:lnTo>
                  <a:lnTo>
                    <a:pt x="0" y="1984625"/>
                  </a:lnTo>
                  <a:close/>
                </a:path>
              </a:pathLst>
            </a:custGeom>
            <a:solidFill>
              <a:srgbClr val="B71C1C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179151" cy="1994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Sorted Set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(Xếp hạng)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88720" y="3400425"/>
            <a:ext cx="7863840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9"/>
              </a:lnSpc>
            </a:pPr>
            <a:r>
              <a:rPr lang="en-US" sz="3599">
                <a:solidFill>
                  <a:srgbClr val="2B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Nhiều thí sinh cùng làm một đề trắc nghiệm và xem bảng xếp hạng cập nhật tức thì. Dữ liệu lưu trong Redis; ứng dụng viết bằng FastAPI, đẩy thay đổi về trình duyệt bằng SSE kết hợp Pub/Sub. Trọng tâm là Hash (người chơi) và Sorted Set (xếp hạng).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099280" y="9700260"/>
            <a:ext cx="1417120" cy="54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-4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548640"/>
            <a:ext cx="16093440" cy="1280160"/>
            <a:chOff x="0" y="0"/>
            <a:chExt cx="21457920" cy="1706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45792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1.2. Vì sao dùng Redis thay vì SQL ORDER BY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828800" y="2194560"/>
          <a:ext cx="14579600" cy="5739130"/>
        </p:xfrm>
        <a:graphic>
          <a:graphicData uri="http://schemas.openxmlformats.org/drawingml/2006/table">
            <a:tbl>
              <a:tblPr/>
              <a:tblGrid>
                <a:gridCol w="4381357"/>
                <a:gridCol w="5099122"/>
                <a:gridCol w="5099122"/>
              </a:tblGrid>
              <a:tr h="10920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Tiêu chí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799">
                          <a:solidFill>
                            <a:srgbClr val="2B313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Cơ sở dữ liệu SQL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B71C1C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Redis (Sorted Set)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20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Lưu trữ &amp; Độ trễ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Ổ cứng (Disk)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RAM (&lt; 1 mili giây)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50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Cơ chế sắp xếp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Lệnh ORDER BY (Quét lại toàn bảng, tốn CPU)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Tự sắp xếp ngay khi ghi/cập nhật điểm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50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Khả năng chịu tải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Nghẽn (Bottleneck) khi concurrent cao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Hàng chục nghìn thao tác (ops/s)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50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Vai trò cốt lõi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Lưu dữ liệu gốc (Ledger)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Lớp xếp hạng tốc độ cao (Caching Layer)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7099280" y="9728835"/>
            <a:ext cx="14171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-4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548640"/>
            <a:ext cx="16093440" cy="1280160"/>
            <a:chOff x="0" y="0"/>
            <a:chExt cx="21457920" cy="1706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45792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1.3. Cấu trúc khóa Redis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8997" y="4729477"/>
            <a:ext cx="2793997" cy="1513840"/>
            <a:chOff x="0" y="0"/>
            <a:chExt cx="3725329" cy="2018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25291" cy="2018415"/>
            </a:xfrm>
            <a:custGeom>
              <a:avLst/>
              <a:gdLst/>
              <a:ahLst/>
              <a:cxnLst/>
              <a:rect r="r" b="b" t="t" l="l"/>
              <a:pathLst>
                <a:path h="2018415" w="3725291">
                  <a:moveTo>
                    <a:pt x="0" y="0"/>
                  </a:moveTo>
                  <a:lnTo>
                    <a:pt x="3725291" y="0"/>
                  </a:lnTo>
                  <a:lnTo>
                    <a:pt x="3725291" y="2018415"/>
                  </a:lnTo>
                  <a:lnTo>
                    <a:pt x="0" y="2018415"/>
                  </a:lnTo>
                  <a:close/>
                </a:path>
              </a:pathLst>
            </a:custGeom>
            <a:solidFill>
              <a:srgbClr val="2B3137"/>
            </a:solidFill>
            <a:ln w="50800" cap="sq">
              <a:solidFill>
                <a:srgbClr val="B71C1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25329" cy="2047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Hệ thống</a:t>
              </a:r>
            </a:p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Khóa Redis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192900">
            <a:off x="3638017" y="5476875"/>
            <a:ext cx="679247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77740">
            <a:off x="1352493" y="5568315"/>
            <a:ext cx="5890384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17180">
            <a:off x="4277468" y="2733675"/>
            <a:ext cx="314735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552950" y="2175510"/>
            <a:ext cx="12656820" cy="1135380"/>
            <a:chOff x="0" y="0"/>
            <a:chExt cx="16875760" cy="1513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75761" cy="1513840"/>
            </a:xfrm>
            <a:custGeom>
              <a:avLst/>
              <a:gdLst/>
              <a:ahLst/>
              <a:cxnLst/>
              <a:rect r="r" b="b" t="t" l="l"/>
              <a:pathLst>
                <a:path h="1513840" w="16875761">
                  <a:moveTo>
                    <a:pt x="0" y="0"/>
                  </a:moveTo>
                  <a:lnTo>
                    <a:pt x="16875761" y="0"/>
                  </a:lnTo>
                  <a:lnTo>
                    <a:pt x="16875761" y="1513840"/>
                  </a:lnTo>
                  <a:lnTo>
                    <a:pt x="0" y="1513840"/>
                  </a:lnTo>
                  <a:close/>
                </a:path>
              </a:pathLst>
            </a:custGeom>
            <a:solidFill>
              <a:srgbClr val="E8E8E8"/>
            </a:solidFill>
            <a:ln w="3810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754880" y="2194560"/>
            <a:ext cx="3108960" cy="1097280"/>
            <a:chOff x="0" y="0"/>
            <a:chExt cx="414528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5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145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Quản lý Định danh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46720" y="2432304"/>
            <a:ext cx="4389120" cy="621792"/>
            <a:chOff x="0" y="0"/>
            <a:chExt cx="585216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0" cy="829056"/>
            </a:xfrm>
            <a:custGeom>
              <a:avLst/>
              <a:gdLst/>
              <a:ahLst/>
              <a:cxnLst/>
              <a:rect r="r" b="b" t="t" l="l"/>
              <a:pathLst>
                <a:path h="82905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852160" cy="83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seq:player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27280" y="2432304"/>
            <a:ext cx="4572000" cy="621792"/>
            <a:chOff x="0" y="0"/>
            <a:chExt cx="6096000" cy="829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0960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(Bộ đếm INCR sinh ID)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417180">
            <a:off x="4277468" y="5202555"/>
            <a:ext cx="314735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4552950" y="3638550"/>
            <a:ext cx="12656820" cy="3147060"/>
            <a:chOff x="0" y="0"/>
            <a:chExt cx="16875760" cy="4196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875761" cy="4196080"/>
            </a:xfrm>
            <a:custGeom>
              <a:avLst/>
              <a:gdLst/>
              <a:ahLst/>
              <a:cxnLst/>
              <a:rect r="r" b="b" t="t" l="l"/>
              <a:pathLst>
                <a:path h="4196080" w="16875761">
                  <a:moveTo>
                    <a:pt x="0" y="0"/>
                  </a:moveTo>
                  <a:lnTo>
                    <a:pt x="16875761" y="0"/>
                  </a:lnTo>
                  <a:lnTo>
                    <a:pt x="16875761" y="4196080"/>
                  </a:lnTo>
                  <a:lnTo>
                    <a:pt x="0" y="4196080"/>
                  </a:lnTo>
                  <a:close/>
                </a:path>
              </a:pathLst>
            </a:custGeom>
            <a:solidFill>
              <a:srgbClr val="E8E8E8"/>
            </a:solidFill>
            <a:ln w="3810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754880" y="3657600"/>
            <a:ext cx="3108960" cy="3108960"/>
            <a:chOff x="0" y="0"/>
            <a:chExt cx="4145280" cy="4145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45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145280"/>
                  </a:lnTo>
                  <a:lnTo>
                    <a:pt x="0" y="4145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145280" cy="4164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Hồ sơ &amp; Chỉ mục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(Hash/String)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46720" y="3864864"/>
            <a:ext cx="4389120" cy="621792"/>
            <a:chOff x="0" y="0"/>
            <a:chExt cx="585216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829056"/>
            </a:xfrm>
            <a:custGeom>
              <a:avLst/>
              <a:gdLst/>
              <a:ahLst/>
              <a:cxnLst/>
              <a:rect r="r" b="b" t="t" l="l"/>
              <a:pathLst>
                <a:path h="82905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852160" cy="83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player:{id}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527280" y="3864864"/>
            <a:ext cx="4572000" cy="621792"/>
            <a:chOff x="0" y="0"/>
            <a:chExt cx="6096000" cy="829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0960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(Dữ liệu gốc người chơi)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46720" y="4901184"/>
            <a:ext cx="4389120" cy="621792"/>
            <a:chOff x="0" y="0"/>
            <a:chExt cx="5852160" cy="8290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829056"/>
            </a:xfrm>
            <a:custGeom>
              <a:avLst/>
              <a:gdLst/>
              <a:ahLst/>
              <a:cxnLst/>
              <a:rect r="r" b="b" t="t" l="l"/>
              <a:pathLst>
                <a:path h="82905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852160" cy="83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player:name:{username}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27280" y="4901184"/>
            <a:ext cx="4572000" cy="621792"/>
            <a:chOff x="0" y="0"/>
            <a:chExt cx="6096000" cy="8290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0960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(Chỉ mục chống trùng)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46720" y="5937504"/>
            <a:ext cx="4389120" cy="621792"/>
            <a:chOff x="0" y="0"/>
            <a:chExt cx="5852160" cy="8290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2160" cy="829056"/>
            </a:xfrm>
            <a:custGeom>
              <a:avLst/>
              <a:gdLst/>
              <a:ahLst/>
              <a:cxnLst/>
              <a:rect r="r" b="b" t="t" l="l"/>
              <a:pathLst>
                <a:path h="82905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852160" cy="83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players:all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527280" y="5937504"/>
            <a:ext cx="4572000" cy="621792"/>
            <a:chOff x="0" y="0"/>
            <a:chExt cx="6096000" cy="8290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0960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(Danh sách tổng hợp)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417180">
            <a:off x="4277468" y="8220075"/>
            <a:ext cx="314735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4552950" y="7113270"/>
            <a:ext cx="12656820" cy="2232660"/>
            <a:chOff x="0" y="0"/>
            <a:chExt cx="16875760" cy="2976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875761" cy="2976880"/>
            </a:xfrm>
            <a:custGeom>
              <a:avLst/>
              <a:gdLst/>
              <a:ahLst/>
              <a:cxnLst/>
              <a:rect r="r" b="b" t="t" l="l"/>
              <a:pathLst>
                <a:path h="2976880" w="16875761">
                  <a:moveTo>
                    <a:pt x="0" y="0"/>
                  </a:moveTo>
                  <a:lnTo>
                    <a:pt x="16875761" y="0"/>
                  </a:lnTo>
                  <a:lnTo>
                    <a:pt x="16875761" y="2976880"/>
                  </a:lnTo>
                  <a:lnTo>
                    <a:pt x="0" y="2976880"/>
                  </a:lnTo>
                  <a:close/>
                </a:path>
              </a:pathLst>
            </a:custGeom>
            <a:solidFill>
              <a:srgbClr val="E8E8E8"/>
            </a:solidFill>
            <a:ln w="3810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754880" y="7132320"/>
            <a:ext cx="3108960" cy="2194560"/>
            <a:chOff x="0" y="0"/>
            <a:chExt cx="4145280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567" t="0" r="-4056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14528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Bảng xếp hạng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(Sorted Set)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046720" y="7370064"/>
            <a:ext cx="4389120" cy="621792"/>
            <a:chOff x="0" y="0"/>
            <a:chExt cx="5852160" cy="8290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0" cy="829056"/>
            </a:xfrm>
            <a:custGeom>
              <a:avLst/>
              <a:gdLst/>
              <a:ahLst/>
              <a:cxnLst/>
              <a:rect r="r" b="b" t="t" l="l"/>
              <a:pathLst>
                <a:path h="82905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5852160" cy="83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leaderboard:game:{gid}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527280" y="7370064"/>
            <a:ext cx="4572000" cy="621792"/>
            <a:chOff x="0" y="0"/>
            <a:chExt cx="6096000" cy="8290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0960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(Trận đấu cục bộ)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046720" y="8467344"/>
            <a:ext cx="4389120" cy="621792"/>
            <a:chOff x="0" y="0"/>
            <a:chExt cx="5852160" cy="8290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852160" cy="829056"/>
            </a:xfrm>
            <a:custGeom>
              <a:avLst/>
              <a:gdLst/>
              <a:ahLst/>
              <a:cxnLst/>
              <a:rect r="r" b="b" t="t" l="l"/>
              <a:pathLst>
                <a:path h="82905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5852160" cy="83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leaderboard:global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527280" y="8467344"/>
            <a:ext cx="4572000" cy="621792"/>
            <a:chOff x="0" y="0"/>
            <a:chExt cx="6096000" cy="829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96000" cy="829056"/>
            </a:xfrm>
            <a:custGeom>
              <a:avLst/>
              <a:gdLst/>
              <a:ahLst/>
              <a:cxnLst/>
              <a:rect r="r" b="b" t="t" l="l"/>
              <a:pathLst>
                <a:path h="82905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72" r="0" b="-9327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6096000" cy="838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(Tích lũy toàn cục)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7099280" y="9700260"/>
            <a:ext cx="1417120" cy="54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-4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548640"/>
            <a:ext cx="16093440" cy="1073339"/>
            <a:chOff x="0" y="0"/>
            <a:chExt cx="21457920" cy="14311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57920" cy="1431119"/>
            </a:xfrm>
            <a:custGeom>
              <a:avLst/>
              <a:gdLst/>
              <a:ahLst/>
              <a:cxnLst/>
              <a:rect r="r" b="b" t="t" l="l"/>
              <a:pathLst>
                <a:path h="1431119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31119"/>
                  </a:lnTo>
                  <a:lnTo>
                    <a:pt x="0" y="14311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9558" r="0" b="-2347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457920" cy="1459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59"/>
                </a:lnSpc>
              </a:pPr>
              <a:r>
                <a:rPr lang="en-US" sz="52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THIẾT KẾ DỮ LIỆU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7280" y="1554480"/>
            <a:ext cx="16093440" cy="914400"/>
            <a:chOff x="0" y="0"/>
            <a:chExt cx="2145792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4579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2.1. Hash: thông tin người chơi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2926080"/>
            <a:ext cx="4206240" cy="914400"/>
            <a:chOff x="0" y="0"/>
            <a:chExt cx="560832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08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B31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608320" cy="1238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player:{id}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5372700">
            <a:off x="-1024966" y="6208395"/>
            <a:ext cx="4793132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22900">
            <a:off x="1351931" y="4525899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920240" y="4023360"/>
            <a:ext cx="3657600" cy="1024128"/>
            <a:chOff x="0" y="0"/>
            <a:chExt cx="4876800" cy="13655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2B313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876800" cy="1375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"id" &amp; "username"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39463" y="4010663"/>
            <a:ext cx="4597403" cy="1049528"/>
            <a:chOff x="0" y="0"/>
            <a:chExt cx="6129871" cy="13993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9909" cy="1399409"/>
            </a:xfrm>
            <a:custGeom>
              <a:avLst/>
              <a:gdLst/>
              <a:ahLst/>
              <a:cxnLst/>
              <a:rect r="r" b="b" t="t" l="l"/>
              <a:pathLst>
                <a:path h="1399409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399409"/>
                  </a:lnTo>
                  <a:lnTo>
                    <a:pt x="0" y="1399409"/>
                  </a:lnTo>
                  <a:close/>
                </a:path>
              </a:pathLst>
            </a:custGeom>
            <a:solidFill>
              <a:srgbClr val="E4E4E4"/>
            </a:solidFill>
            <a:ln w="25400" cap="sq">
              <a:solidFill>
                <a:srgbClr val="AAAAA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129871" cy="1408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Khóa chính và tên đăng nhập duy nhất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222900">
            <a:off x="1351931" y="5714619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920240" y="5212080"/>
            <a:ext cx="3657600" cy="1024128"/>
            <a:chOff x="0" y="0"/>
            <a:chExt cx="4876800" cy="13655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768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2B313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876800" cy="1375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"display_name" &amp; "avatar"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839463" y="5199383"/>
            <a:ext cx="4597403" cy="1049528"/>
            <a:chOff x="0" y="0"/>
            <a:chExt cx="6129871" cy="13993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29909" cy="1399409"/>
            </a:xfrm>
            <a:custGeom>
              <a:avLst/>
              <a:gdLst/>
              <a:ahLst/>
              <a:cxnLst/>
              <a:rect r="r" b="b" t="t" l="l"/>
              <a:pathLst>
                <a:path h="1399409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399409"/>
                  </a:lnTo>
                  <a:lnTo>
                    <a:pt x="0" y="1399409"/>
                  </a:lnTo>
                  <a:close/>
                </a:path>
              </a:pathLst>
            </a:custGeom>
            <a:solidFill>
              <a:srgbClr val="E4E4E4"/>
            </a:solidFill>
            <a:ln w="25400" cap="sq">
              <a:solidFill>
                <a:srgbClr val="AAAAA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129871" cy="1408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Tên và ảnh hiển thị trên bảng xếp hạng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222900">
            <a:off x="1351931" y="6903339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920240" y="6400800"/>
            <a:ext cx="3657600" cy="1024128"/>
            <a:chOff x="0" y="0"/>
            <a:chExt cx="4876800" cy="1365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2B313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876800" cy="1375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"email" &amp; "created_at"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839463" y="6388103"/>
            <a:ext cx="4597403" cy="1049528"/>
            <a:chOff x="0" y="0"/>
            <a:chExt cx="6129871" cy="13993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29909" cy="1399409"/>
            </a:xfrm>
            <a:custGeom>
              <a:avLst/>
              <a:gdLst/>
              <a:ahLst/>
              <a:cxnLst/>
              <a:rect r="r" b="b" t="t" l="l"/>
              <a:pathLst>
                <a:path h="1399409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399409"/>
                  </a:lnTo>
                  <a:lnTo>
                    <a:pt x="0" y="1399409"/>
                  </a:lnTo>
                  <a:close/>
                </a:path>
              </a:pathLst>
            </a:custGeom>
            <a:solidFill>
              <a:srgbClr val="E4E4E4"/>
            </a:solidFill>
            <a:ln w="25400" cap="sq">
              <a:solidFill>
                <a:srgbClr val="AAAAA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129871" cy="1408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Thông tin liên hệ và thời điểm tạo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rot="222900">
            <a:off x="1351931" y="8092059"/>
            <a:ext cx="587978" cy="0"/>
          </a:xfrm>
          <a:prstGeom prst="line">
            <a:avLst/>
          </a:prstGeom>
          <a:ln cap="rnd" w="19050">
            <a:solidFill>
              <a:srgbClr val="2B313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920240" y="7589520"/>
            <a:ext cx="3657600" cy="1024128"/>
            <a:chOff x="0" y="0"/>
            <a:chExt cx="4876800" cy="13655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2B313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876800" cy="1375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"total_games"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839463" y="7576823"/>
            <a:ext cx="4597403" cy="1049528"/>
            <a:chOff x="0" y="0"/>
            <a:chExt cx="6129871" cy="13993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29909" cy="1399409"/>
            </a:xfrm>
            <a:custGeom>
              <a:avLst/>
              <a:gdLst/>
              <a:ahLst/>
              <a:cxnLst/>
              <a:rect r="r" b="b" t="t" l="l"/>
              <a:pathLst>
                <a:path h="1399409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399409"/>
                  </a:lnTo>
                  <a:lnTo>
                    <a:pt x="0" y="1399409"/>
                  </a:lnTo>
                  <a:close/>
                </a:path>
              </a:pathLst>
            </a:custGeom>
            <a:solidFill>
              <a:srgbClr val="E4E4E4"/>
            </a:solidFill>
            <a:ln w="25400" cap="sq">
              <a:solidFill>
                <a:srgbClr val="AAAAAA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129871" cy="1408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Số trận đã tham gia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56922" y="2910202"/>
            <a:ext cx="6249667" cy="6066787"/>
            <a:chOff x="0" y="0"/>
            <a:chExt cx="8332889" cy="808904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332851" cy="8089011"/>
            </a:xfrm>
            <a:custGeom>
              <a:avLst/>
              <a:gdLst/>
              <a:ahLst/>
              <a:cxnLst/>
              <a:rect r="r" b="b" t="t" l="l"/>
              <a:pathLst>
                <a:path h="8089011" w="8332851">
                  <a:moveTo>
                    <a:pt x="0" y="0"/>
                  </a:moveTo>
                  <a:lnTo>
                    <a:pt x="8332851" y="0"/>
                  </a:lnTo>
                  <a:lnTo>
                    <a:pt x="8332851" y="8089011"/>
                  </a:lnTo>
                  <a:lnTo>
                    <a:pt x="0" y="8089011"/>
                  </a:lnTo>
                  <a:close/>
                </a:path>
              </a:pathLst>
            </a:custGeom>
            <a:solidFill>
              <a:srgbClr val="B71C1C"/>
            </a:solidFill>
            <a:ln w="31750" cap="sq">
              <a:solidFill>
                <a:srgbClr val="B71C1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155675" y="3218688"/>
            <a:ext cx="5852160" cy="5394960"/>
            <a:chOff x="0" y="0"/>
            <a:chExt cx="7802880" cy="7193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02880" cy="7193280"/>
            </a:xfrm>
            <a:custGeom>
              <a:avLst/>
              <a:gdLst/>
              <a:ahLst/>
              <a:cxnLst/>
              <a:rect r="r" b="b" t="t" l="l"/>
              <a:pathLst>
                <a:path h="71932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193280"/>
                  </a:lnTo>
                  <a:lnTo>
                    <a:pt x="0" y="7193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294" t="0" r="-74294" b="-508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7802880" cy="7221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</a:p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Điểm số KHÔNG ĐƯỢC LƯU trong Hash. Điểm chỉ nằm ở Sorted Set để đảm bảo tính duy nhất, tránh hiện tượng lệch dữ liệu giữa hai nguồn.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7099280" y="9700260"/>
            <a:ext cx="1417120" cy="54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-4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548640"/>
            <a:ext cx="16093440" cy="1280160"/>
            <a:chOff x="0" y="0"/>
            <a:chExt cx="21457920" cy="1706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45792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Thao tác trên Hash: Khởi tạo và Truy xuất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5642" y="2361562"/>
            <a:ext cx="5518147" cy="6798307"/>
            <a:chOff x="0" y="0"/>
            <a:chExt cx="7357529" cy="9064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57491" cy="9064371"/>
            </a:xfrm>
            <a:custGeom>
              <a:avLst/>
              <a:gdLst/>
              <a:ahLst/>
              <a:cxnLst/>
              <a:rect r="r" b="b" t="t" l="l"/>
              <a:pathLst>
                <a:path h="9064371" w="7357491">
                  <a:moveTo>
                    <a:pt x="0" y="0"/>
                  </a:moveTo>
                  <a:lnTo>
                    <a:pt x="7357491" y="0"/>
                  </a:lnTo>
                  <a:lnTo>
                    <a:pt x="7357491" y="9064371"/>
                  </a:lnTo>
                  <a:lnTo>
                    <a:pt x="0" y="9064371"/>
                  </a:lnTo>
                  <a:close/>
                </a:path>
              </a:pathLst>
            </a:custGeom>
            <a:solidFill>
              <a:srgbClr val="F7F5EC"/>
            </a:solidFill>
            <a:ln w="3175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468880"/>
            <a:ext cx="5120640" cy="822960"/>
            <a:chOff x="0" y="0"/>
            <a:chExt cx="682752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Kiểm tra Chỉ mục (O(1))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3143" y="4742183"/>
            <a:ext cx="4963163" cy="1305560"/>
            <a:chOff x="0" y="0"/>
            <a:chExt cx="6617551" cy="17407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17589" cy="1740785"/>
            </a:xfrm>
            <a:custGeom>
              <a:avLst/>
              <a:gdLst/>
              <a:ahLst/>
              <a:cxnLst/>
              <a:rect r="r" b="b" t="t" l="l"/>
              <a:pathLst>
                <a:path h="174078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740785"/>
                  </a:lnTo>
                  <a:lnTo>
                    <a:pt x="0" y="1740785"/>
                  </a:lnTo>
                  <a:close/>
                </a:path>
              </a:pathLst>
            </a:custGeom>
            <a:solidFill>
              <a:srgbClr val="E4E4E4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617551" cy="1750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player:name:{username}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84922" y="2361562"/>
            <a:ext cx="5518147" cy="6798307"/>
            <a:chOff x="0" y="0"/>
            <a:chExt cx="7357529" cy="90644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57491" cy="9064371"/>
            </a:xfrm>
            <a:custGeom>
              <a:avLst/>
              <a:gdLst/>
              <a:ahLst/>
              <a:cxnLst/>
              <a:rect r="r" b="b" t="t" l="l"/>
              <a:pathLst>
                <a:path h="9064371" w="7357491">
                  <a:moveTo>
                    <a:pt x="0" y="0"/>
                  </a:moveTo>
                  <a:lnTo>
                    <a:pt x="7357491" y="0"/>
                  </a:lnTo>
                  <a:lnTo>
                    <a:pt x="7357491" y="9064371"/>
                  </a:lnTo>
                  <a:lnTo>
                    <a:pt x="0" y="9064371"/>
                  </a:lnTo>
                  <a:close/>
                </a:path>
              </a:pathLst>
            </a:custGeom>
            <a:solidFill>
              <a:srgbClr val="F7F5EC"/>
            </a:solidFill>
            <a:ln w="3175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583680" y="2468880"/>
            <a:ext cx="5120640" cy="822960"/>
            <a:chOff x="0" y="0"/>
            <a:chExt cx="682752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Khởi tạo/Cập nhật Hồ sơ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62423" y="4742183"/>
            <a:ext cx="4963163" cy="1762760"/>
            <a:chOff x="0" y="0"/>
            <a:chExt cx="6617551" cy="23503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17589" cy="2350385"/>
            </a:xfrm>
            <a:custGeom>
              <a:avLst/>
              <a:gdLst/>
              <a:ahLst/>
              <a:cxnLst/>
              <a:rect r="r" b="b" t="t" l="l"/>
              <a:pathLst>
                <a:path h="235038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2350385"/>
                  </a:lnTo>
                  <a:lnTo>
                    <a:pt x="0" y="2350385"/>
                  </a:lnTo>
                  <a:close/>
                </a:path>
              </a:pathLst>
            </a:custGeom>
            <a:solidFill>
              <a:srgbClr val="E4E4E4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617551" cy="235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HSET player:101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username "alice"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display_name "Alice"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62423" y="6662423"/>
            <a:ext cx="4963163" cy="1122680"/>
            <a:chOff x="0" y="0"/>
            <a:chExt cx="6617551" cy="14969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17589" cy="1496945"/>
            </a:xfrm>
            <a:custGeom>
              <a:avLst/>
              <a:gdLst/>
              <a:ahLst/>
              <a:cxnLst/>
              <a:rect r="r" b="b" t="t" l="l"/>
              <a:pathLst>
                <a:path h="149694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496945"/>
                  </a:lnTo>
                  <a:lnTo>
                    <a:pt x="0" y="1496945"/>
                  </a:lnTo>
                  <a:close/>
                </a:path>
              </a:pathLst>
            </a:custGeom>
            <a:solidFill>
              <a:srgbClr val="E4E4E4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617551" cy="150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HGETALL player:101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54202" y="2361562"/>
            <a:ext cx="5518147" cy="6798307"/>
            <a:chOff x="0" y="0"/>
            <a:chExt cx="7357529" cy="90644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57491" cy="9064371"/>
            </a:xfrm>
            <a:custGeom>
              <a:avLst/>
              <a:gdLst/>
              <a:ahLst/>
              <a:cxnLst/>
              <a:rect r="r" b="b" t="t" l="l"/>
              <a:pathLst>
                <a:path h="9064371" w="7357491">
                  <a:moveTo>
                    <a:pt x="0" y="0"/>
                  </a:moveTo>
                  <a:lnTo>
                    <a:pt x="7357491" y="0"/>
                  </a:lnTo>
                  <a:lnTo>
                    <a:pt x="7357491" y="9064371"/>
                  </a:lnTo>
                  <a:lnTo>
                    <a:pt x="0" y="9064371"/>
                  </a:lnTo>
                  <a:close/>
                </a:path>
              </a:pathLst>
            </a:custGeom>
            <a:solidFill>
              <a:srgbClr val="F7F5EC"/>
            </a:solidFill>
            <a:ln w="3175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252960" y="2468880"/>
            <a:ext cx="5120640" cy="822960"/>
            <a:chOff x="0" y="0"/>
            <a:chExt cx="682752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8275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 Tăng bộ đếm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31703" y="4742183"/>
            <a:ext cx="4963163" cy="1305560"/>
            <a:chOff x="0" y="0"/>
            <a:chExt cx="6617551" cy="17407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17589" cy="1740785"/>
            </a:xfrm>
            <a:custGeom>
              <a:avLst/>
              <a:gdLst/>
              <a:ahLst/>
              <a:cxnLst/>
              <a:rect r="r" b="b" t="t" l="l"/>
              <a:pathLst>
                <a:path h="174078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740785"/>
                  </a:lnTo>
                  <a:lnTo>
                    <a:pt x="0" y="1740785"/>
                  </a:lnTo>
                  <a:close/>
                </a:path>
              </a:pathLst>
            </a:custGeom>
            <a:solidFill>
              <a:srgbClr val="E4E4E4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617551" cy="1750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HINCRBY player:101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total_games 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241799" y="5473703"/>
            <a:ext cx="171707" cy="574043"/>
            <a:chOff x="0" y="0"/>
            <a:chExt cx="228943" cy="7653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765429"/>
            </a:xfrm>
            <a:custGeom>
              <a:avLst/>
              <a:gdLst/>
              <a:ahLst/>
              <a:cxnLst/>
              <a:rect r="r" b="b" t="t" l="l"/>
              <a:pathLst>
                <a:path h="765429" w="228854">
                  <a:moveTo>
                    <a:pt x="0" y="191389"/>
                  </a:moveTo>
                  <a:lnTo>
                    <a:pt x="114427" y="191389"/>
                  </a:lnTo>
                  <a:lnTo>
                    <a:pt x="114427" y="0"/>
                  </a:lnTo>
                  <a:lnTo>
                    <a:pt x="228854" y="382651"/>
                  </a:lnTo>
                  <a:lnTo>
                    <a:pt x="114427" y="765429"/>
                  </a:lnTo>
                  <a:lnTo>
                    <a:pt x="114427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2B3137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911079" y="5473703"/>
            <a:ext cx="171707" cy="574043"/>
            <a:chOff x="0" y="0"/>
            <a:chExt cx="228943" cy="765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854" cy="765429"/>
            </a:xfrm>
            <a:custGeom>
              <a:avLst/>
              <a:gdLst/>
              <a:ahLst/>
              <a:cxnLst/>
              <a:rect r="r" b="b" t="t" l="l"/>
              <a:pathLst>
                <a:path h="765429" w="228854">
                  <a:moveTo>
                    <a:pt x="0" y="191389"/>
                  </a:moveTo>
                  <a:lnTo>
                    <a:pt x="114427" y="191389"/>
                  </a:lnTo>
                  <a:lnTo>
                    <a:pt x="114427" y="0"/>
                  </a:lnTo>
                  <a:lnTo>
                    <a:pt x="228854" y="382651"/>
                  </a:lnTo>
                  <a:lnTo>
                    <a:pt x="114427" y="765429"/>
                  </a:lnTo>
                  <a:lnTo>
                    <a:pt x="114427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2B3137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005840" y="3318510"/>
            <a:ext cx="493776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B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đích: Chống trùng tên đăng nhập.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75120" y="3318510"/>
            <a:ext cx="493776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B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đích: Ghi hoặc đọc toàn bộ dữ liệu cá nhân.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44400" y="3318510"/>
            <a:ext cx="493776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B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đích: Cập nhật số trận khi join game.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099280" y="9719310"/>
            <a:ext cx="14171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-4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548640"/>
            <a:ext cx="16093440" cy="1280160"/>
            <a:chOff x="0" y="0"/>
            <a:chExt cx="21457920" cy="1706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45792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2.2. Sorted Set: bảng xếp hạng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62846" y="2755357"/>
            <a:ext cx="16645160" cy="3267197"/>
            <a:chOff x="0" y="0"/>
            <a:chExt cx="18036904" cy="3540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36941" cy="3540414"/>
            </a:xfrm>
            <a:custGeom>
              <a:avLst/>
              <a:gdLst/>
              <a:ahLst/>
              <a:cxnLst/>
              <a:rect r="r" b="b" t="t" l="l"/>
              <a:pathLst>
                <a:path h="3540414" w="18036941">
                  <a:moveTo>
                    <a:pt x="0" y="3540414"/>
                  </a:moveTo>
                  <a:lnTo>
                    <a:pt x="1196368" y="0"/>
                  </a:lnTo>
                  <a:lnTo>
                    <a:pt x="18036941" y="0"/>
                  </a:lnTo>
                  <a:lnTo>
                    <a:pt x="16840574" y="3540414"/>
                  </a:lnTo>
                  <a:close/>
                </a:path>
              </a:pathLst>
            </a:custGeom>
            <a:solidFill>
              <a:srgbClr val="6B7F9E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62846" y="4117496"/>
            <a:ext cx="16645160" cy="3332168"/>
            <a:chOff x="0" y="0"/>
            <a:chExt cx="18036904" cy="36107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36941" cy="3610817"/>
            </a:xfrm>
            <a:custGeom>
              <a:avLst/>
              <a:gdLst/>
              <a:ahLst/>
              <a:cxnLst/>
              <a:rect r="r" b="b" t="t" l="l"/>
              <a:pathLst>
                <a:path h="3610817" w="18036941">
                  <a:moveTo>
                    <a:pt x="0" y="3610817"/>
                  </a:moveTo>
                  <a:lnTo>
                    <a:pt x="1196368" y="0"/>
                  </a:lnTo>
                  <a:lnTo>
                    <a:pt x="18036941" y="0"/>
                  </a:lnTo>
                  <a:lnTo>
                    <a:pt x="16840574" y="3610817"/>
                  </a:lnTo>
                  <a:close/>
                </a:path>
              </a:pathLst>
            </a:custGeom>
            <a:solidFill>
              <a:srgbClr val="6B7F9E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857918" y="3552825"/>
          <a:ext cx="15241362" cy="3181350"/>
        </p:xfrm>
        <a:graphic>
          <a:graphicData uri="http://schemas.openxmlformats.org/drawingml/2006/table">
            <a:tbl>
              <a:tblPr/>
              <a:tblGrid>
                <a:gridCol w="7620681"/>
                <a:gridCol w="7620681"/>
              </a:tblGrid>
              <a:tr h="7953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ZADD leaderboard 2500 player:101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thêm hoặc cập nhật điểm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ZINCRBY leaderboard 100 player:101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cộng điểm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ZREVRANGE leaderboard 0 9 WITHSCORES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lấy top 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ZREVRANK leaderboard player:101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B313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lấy hạng của một người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7099280" y="9719310"/>
            <a:ext cx="14171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-4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548640"/>
            <a:ext cx="16093440" cy="1280160"/>
            <a:chOff x="0" y="0"/>
            <a:chExt cx="21457920" cy="17068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45792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9"/>
                </a:lnSpc>
              </a:pPr>
              <a:r>
                <a:rPr lang="en-US" sz="46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Bỏ qua khóa ngoại (Foreign Keys)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1402" y="2178682"/>
            <a:ext cx="6066787" cy="4603747"/>
            <a:chOff x="0" y="0"/>
            <a:chExt cx="8089049" cy="6138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9011" cy="6138291"/>
            </a:xfrm>
            <a:custGeom>
              <a:avLst/>
              <a:gdLst/>
              <a:ahLst/>
              <a:cxnLst/>
              <a:rect r="r" b="b" t="t" l="l"/>
              <a:pathLst>
                <a:path h="6138291" w="8089011">
                  <a:moveTo>
                    <a:pt x="0" y="0"/>
                  </a:moveTo>
                  <a:lnTo>
                    <a:pt x="8089011" y="0"/>
                  </a:lnTo>
                  <a:lnTo>
                    <a:pt x="8089011" y="6138291"/>
                  </a:lnTo>
                  <a:lnTo>
                    <a:pt x="0" y="6138291"/>
                  </a:lnTo>
                  <a:close/>
                </a:path>
              </a:pathLst>
            </a:custGeom>
            <a:solidFill>
              <a:srgbClr val="6B7F9E"/>
            </a:solidFill>
            <a:ln w="3175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39802" y="2178682"/>
            <a:ext cx="6066787" cy="4603747"/>
            <a:chOff x="0" y="0"/>
            <a:chExt cx="8089049" cy="6138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89011" cy="6138291"/>
            </a:xfrm>
            <a:custGeom>
              <a:avLst/>
              <a:gdLst/>
              <a:ahLst/>
              <a:cxnLst/>
              <a:rect r="r" b="b" t="t" l="l"/>
              <a:pathLst>
                <a:path h="6138291" w="8089011">
                  <a:moveTo>
                    <a:pt x="0" y="0"/>
                  </a:moveTo>
                  <a:lnTo>
                    <a:pt x="8089011" y="0"/>
                  </a:lnTo>
                  <a:lnTo>
                    <a:pt x="8089011" y="6138291"/>
                  </a:lnTo>
                  <a:lnTo>
                    <a:pt x="0" y="6138291"/>
                  </a:lnTo>
                  <a:close/>
                </a:path>
              </a:pathLst>
            </a:custGeom>
            <a:solidFill>
              <a:srgbClr val="6B7F9E"/>
            </a:solidFill>
            <a:ln w="31750" cap="sq">
              <a:solidFill>
                <a:srgbClr val="2B313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33223" y="2730503"/>
            <a:ext cx="4963163" cy="756920"/>
            <a:chOff x="0" y="0"/>
            <a:chExt cx="6617551" cy="10092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17589" cy="1009265"/>
            </a:xfrm>
            <a:custGeom>
              <a:avLst/>
              <a:gdLst/>
              <a:ahLst/>
              <a:cxnLst/>
              <a:rect r="r" b="b" t="t" l="l"/>
              <a:pathLst>
                <a:path h="100926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009265"/>
                  </a:lnTo>
                  <a:lnTo>
                    <a:pt x="0" y="100926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17551" cy="102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Sorted Set (ledger)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3223" y="3462023"/>
            <a:ext cx="2494283" cy="939800"/>
            <a:chOff x="0" y="0"/>
            <a:chExt cx="3325711" cy="12530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25749" cy="1253105"/>
            </a:xfrm>
            <a:custGeom>
              <a:avLst/>
              <a:gdLst/>
              <a:ahLst/>
              <a:cxnLst/>
              <a:rect r="r" b="b" t="t" l="l"/>
              <a:pathLst>
                <a:path h="1253105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1253105"/>
                  </a:lnTo>
                  <a:lnTo>
                    <a:pt x="0" y="125310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325711" cy="1262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Score: 2500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02103" y="3462023"/>
            <a:ext cx="2494283" cy="939800"/>
            <a:chOff x="0" y="0"/>
            <a:chExt cx="3325711" cy="12530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25749" cy="1253105"/>
            </a:xfrm>
            <a:custGeom>
              <a:avLst/>
              <a:gdLst/>
              <a:ahLst/>
              <a:cxnLst/>
              <a:rect r="r" b="b" t="t" l="l"/>
              <a:pathLst>
                <a:path h="1253105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1253105"/>
                  </a:lnTo>
                  <a:lnTo>
                    <a:pt x="0" y="125310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325711" cy="1262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B71C1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player:101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91623" y="2547623"/>
            <a:ext cx="4963163" cy="756920"/>
            <a:chOff x="0" y="0"/>
            <a:chExt cx="6617551" cy="10092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17589" cy="1009265"/>
            </a:xfrm>
            <a:custGeom>
              <a:avLst/>
              <a:gdLst/>
              <a:ahLst/>
              <a:cxnLst/>
              <a:rect r="r" b="b" t="t" l="l"/>
              <a:pathLst>
                <a:path h="100926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009265"/>
                  </a:lnTo>
                  <a:lnTo>
                    <a:pt x="0" y="100926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617551" cy="102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2B313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Hash (profile)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91623" y="3279143"/>
            <a:ext cx="4963163" cy="848360"/>
            <a:chOff x="0" y="0"/>
            <a:chExt cx="6617551" cy="11311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17589" cy="1131185"/>
            </a:xfrm>
            <a:custGeom>
              <a:avLst/>
              <a:gdLst/>
              <a:ahLst/>
              <a:cxnLst/>
              <a:rect r="r" b="b" t="t" l="l"/>
              <a:pathLst>
                <a:path h="113118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131185"/>
                  </a:lnTo>
                  <a:lnTo>
                    <a:pt x="0" y="113118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617551" cy="114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id: 101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91623" y="4102103"/>
            <a:ext cx="4963163" cy="848360"/>
            <a:chOff x="0" y="0"/>
            <a:chExt cx="6617551" cy="11311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17589" cy="1131185"/>
            </a:xfrm>
            <a:custGeom>
              <a:avLst/>
              <a:gdLst/>
              <a:ahLst/>
              <a:cxnLst/>
              <a:rect r="r" b="b" t="t" l="l"/>
              <a:pathLst>
                <a:path h="113118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131185"/>
                  </a:lnTo>
                  <a:lnTo>
                    <a:pt x="0" y="113118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617551" cy="114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Avatar: img.png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91623" y="4925063"/>
            <a:ext cx="4963163" cy="848360"/>
            <a:chOff x="0" y="0"/>
            <a:chExt cx="6617551" cy="11311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17589" cy="1131185"/>
            </a:xfrm>
            <a:custGeom>
              <a:avLst/>
              <a:gdLst/>
              <a:ahLst/>
              <a:cxnLst/>
              <a:rect r="r" b="b" t="t" l="l"/>
              <a:pathLst>
                <a:path h="1131185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1131185"/>
                  </a:lnTo>
                  <a:lnTo>
                    <a:pt x="0" y="113118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617551" cy="114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Name: Alice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67802" y="4007482"/>
            <a:ext cx="5152387" cy="159763"/>
            <a:chOff x="0" y="0"/>
            <a:chExt cx="6869849" cy="2130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69811" cy="212979"/>
            </a:xfrm>
            <a:custGeom>
              <a:avLst/>
              <a:gdLst/>
              <a:ahLst/>
              <a:cxnLst/>
              <a:rect r="r" b="b" t="t" l="l"/>
              <a:pathLst>
                <a:path h="212979" w="6869811">
                  <a:moveTo>
                    <a:pt x="0" y="0"/>
                  </a:moveTo>
                  <a:lnTo>
                    <a:pt x="6869811" y="0"/>
                  </a:lnTo>
                  <a:lnTo>
                    <a:pt x="6869811" y="212979"/>
                  </a:lnTo>
                  <a:lnTo>
                    <a:pt x="0" y="212979"/>
                  </a:lnTo>
                  <a:close/>
                </a:path>
              </a:pathLst>
            </a:custGeom>
            <a:solidFill>
              <a:srgbClr val="B71C1C"/>
            </a:solidFill>
            <a:ln w="31750" cap="sq">
              <a:solidFill>
                <a:srgbClr val="B71C1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766560" y="3291840"/>
            <a:ext cx="4754880" cy="640080"/>
            <a:chOff x="0" y="0"/>
            <a:chExt cx="63398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39840" cy="853440"/>
            </a:xfrm>
            <a:custGeom>
              <a:avLst/>
              <a:gdLst/>
              <a:ahLst/>
              <a:cxnLst/>
              <a:rect r="r" b="b" t="t" l="l"/>
              <a:pathLst>
                <a:path h="8534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3398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Truy xuất chéo O(1)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181863" y="7302503"/>
            <a:ext cx="13924283" cy="2037080"/>
            <a:chOff x="0" y="0"/>
            <a:chExt cx="18565711" cy="27161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565749" cy="2716145"/>
            </a:xfrm>
            <a:custGeom>
              <a:avLst/>
              <a:gdLst/>
              <a:ahLst/>
              <a:cxnLst/>
              <a:rect r="r" b="b" t="t" l="l"/>
              <a:pathLst>
                <a:path h="2716145" w="18565749">
                  <a:moveTo>
                    <a:pt x="0" y="0"/>
                  </a:moveTo>
                  <a:lnTo>
                    <a:pt x="18565749" y="0"/>
                  </a:lnTo>
                  <a:lnTo>
                    <a:pt x="18565749" y="2716145"/>
                  </a:lnTo>
                  <a:lnTo>
                    <a:pt x="0" y="27161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B3137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8565711" cy="2735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Không cần Khóa ngoại (Foreign Keys) hay lệnh JOIN tốn kém.</a:t>
              </a:r>
            </a:p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Chung một không gian tên (Namespace) cho phép tra cứu lập tức.</a:t>
              </a:r>
            </a:p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2B31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Tách biệt hoàn toàn dữ liệu tĩnh (Hồ sơ) và dữ liệu động (Điểm số).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7099280" y="9700260"/>
            <a:ext cx="1417120" cy="54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DAHYngyPQmY</dc:identifier>
  <dcterms:modified xsi:type="dcterms:W3CDTF">2011-08-01T06:04:30Z</dcterms:modified>
  <cp:revision>1</cp:revision>
  <dc:title>Nhom10.pptx</dc:title>
</cp:coreProperties>
</file>